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SMART INDIA HACKATHON 2026  •  SOVEREIGN REGULATORY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UDAN-STAT</a:t>
            </a:r>
          </a:p>
          <a:p>
            <a:pPr>
              <a:defRPr sz="2000" b="0">
                <a:solidFill>
                  <a:srgbClr val="F59E0B"/>
                </a:solidFill>
                <a:latin typeface="Arial"/>
              </a:defRPr>
            </a:pPr>
            <a:r>
              <a:t>Unified Domestic Airfare &amp; Network Sovereign Tariff Analytics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28655" cy="31089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Problem Statement:         </a:t>
            </a:r>
            <a:r>
              <a:rPr b="0" sz="1300">
                <a:solidFill>
                  <a:srgbClr val="F8FAFC"/>
                </a:solidFill>
              </a:rPr>
              <a:t>Development of an Airfare Price Index (APIx) for Domestic Scheduled Aviation in India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Institutional Alignment:   </a:t>
            </a:r>
            <a:r>
              <a:rPr b="0" sz="1300">
                <a:solidFill>
                  <a:srgbClr val="F8FAFC"/>
                </a:solidFill>
              </a:rPr>
              <a:t>Ministry of Civil Aviation (MoCA) &amp; Directorate General of Civil Aviation (DGCA)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Key Statutory Pillars:     </a:t>
            </a:r>
            <a:r>
              <a:rPr b="0" sz="1300">
                <a:solidFill>
                  <a:srgbClr val="F8FAFC"/>
                </a:solidFill>
              </a:rPr>
              <a:t>Rule 135 Aircraft Rules 1937, UDAN Regional Connectivity Scheme (RCS), Laspeyres Price Index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Theme / Category:          </a:t>
            </a:r>
            <a:r>
              <a:rPr b="0" sz="1300">
                <a:solidFill>
                  <a:srgbClr val="F8FAFC"/>
                </a:solidFill>
              </a:rPr>
              <a:t>Smart Automation / Transportation &amp; Logistics / Regulatory Technology (RegTech) — Software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Core Capabilities:         </a:t>
            </a:r>
            <a:r>
              <a:rPr b="1" sz="1300">
                <a:solidFill>
                  <a:srgbClr val="F8FAFC"/>
                </a:solidFill>
              </a:rPr>
              <a:t>80-Route Laspeyres Index • UDAN Statutory Fare Cap Auditor • ATF Fuel Shock Simulator • HHI Antitrust Monitor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Team Identification:       </a:t>
            </a:r>
            <a:r>
              <a:rPr b="1" sz="1300">
                <a:solidFill>
                  <a:srgbClr val="F8FAFC"/>
                </a:solidFill>
              </a:rPr>
              <a:t>Team ID: [Your Team ID]   |   Team Name: [Your Team Name]   |   Status: Fully Functional Working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Slide 2: Proposed Solution &amp; Key Innovations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2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A192F"/>
                </a:solidFill>
              </a:defRPr>
            </a:pPr>
            <a:r>
              <a:t>1. Sovereign Domestic Basket &amp; Working Engine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80-Route Sovereign Basket: </a:t>
            </a:r>
            <a:r>
              <a:rPr sz="1150">
                <a:solidFill>
                  <a:srgbClr val="334155"/>
                </a:solidFill>
              </a:rPr>
              <a:t>Audits comprehensive fare distributions across 20 metro, secondary, and UDAN regional corridors covering ~92% of scheduled domestic seat capacity.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5 Multi-Lead Horizons: </a:t>
            </a:r>
            <a:r>
              <a:rPr sz="1150">
                <a:solidFill>
                  <a:srgbClr val="334155"/>
                </a:solidFill>
              </a:rPr>
              <a:t>Monitors temporal yield management across T+1 (Emergency/Last-minute), T+7, T+15, T+30, and T+45 booking lead times.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Modified Laspeyres Methodology: </a:t>
            </a:r>
            <a:r>
              <a:rPr sz="1150">
                <a:solidFill>
                  <a:srgbClr val="334155"/>
                </a:solidFill>
              </a:rPr>
              <a:t>Mathematically robust national airfare index (Base Sept 2022 = 100.00) dynamically weighted by quarterly DGCA Form A/B passenger traffic statistics (w_r).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Statistical IQR Filtration: </a:t>
            </a:r>
            <a:r>
              <a:rPr sz="1150">
                <a:solidFill>
                  <a:srgbClr val="334155"/>
                </a:solidFill>
              </a:rPr>
              <a:t>Automated [Q1 - 1.5·IQR, Q3 + 1.5·IQR] bounds trimming predatory gouging spikes and promotional flash sales prior to median aggregation.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0F9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2. Breakthrough Institutional Innovations (Novel Features)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E7490"/>
                </a:solidFill>
              </a:rPr>
              <a:t>★ UDAN RCS Statutory Fare Cap Auditor: </a:t>
            </a:r>
            <a:r>
              <a:rPr sz="1150">
                <a:solidFill>
                  <a:srgbClr val="0F172A"/>
                </a:solidFill>
              </a:rPr>
              <a:t>Geodesic Haversine engine auditing routes against distance-tiered statutory caps (₹2,250–₹5,800) to protect subsidized regional travelers and calculate Viability Gap Funding (VGF) clawbacks.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E7490"/>
                </a:solidFill>
              </a:rPr>
              <a:t>★ 1-Click DGCA Show-Cause Notice Dispatcher: </a:t>
            </a:r>
            <a:r>
              <a:rPr sz="1150">
                <a:solidFill>
                  <a:srgbClr val="0F172A"/>
                </a:solidFill>
              </a:rPr>
              <a:t>Instantly compiles live statutory tariff violations into enforceable legal notices citing Rule 135 of Aircraft Rules, 1937.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E7490"/>
                </a:solidFill>
              </a:rPr>
              <a:t>★ ATF Fuel Shock Elasticity Simulator: </a:t>
            </a:r>
            <a:r>
              <a:rPr sz="1150">
                <a:solidFill>
                  <a:srgbClr val="0F172A"/>
                </a:solidFill>
              </a:rPr>
              <a:t>Simulates crude price fluctuations (-20% to +60%) with airline pass-through elasticity (η = 0.55–0.80) to model consumer financial burden in ₹ Crores.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E7490"/>
                </a:solidFill>
              </a:rPr>
              <a:t>★ HHI Antitrust Route Monitor: </a:t>
            </a:r>
            <a:r>
              <a:rPr sz="1150">
                <a:solidFill>
                  <a:srgbClr val="0F172A"/>
                </a:solidFill>
              </a:rPr>
              <a:t>Computes Herfindahl-Hirschman Index across all 80 corridors to detect carrier duopolies and high-barrier monopoly pricing risks (HHI &gt; 2,500).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Slide 3: Technical Approach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3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A192F"/>
                </a:solidFill>
              </a:defRPr>
            </a:pPr>
            <a:r>
              <a:t>1. Technology Stack &amp; Enterprise Resilience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A192F"/>
                </a:solidFill>
              </a:rPr>
              <a:t>• Frontend Client: </a:t>
            </a:r>
            <a:r>
              <a:rPr sz="1100">
                <a:solidFill>
                  <a:srgbClr val="334155"/>
                </a:solidFill>
              </a:rPr>
              <a:t>React 19, TypeScript, Vite, Plotly.js for interactive analytics, Lucide Icons, Modern Vanilla CSS System with 4 adaptive themes (Light, Coastal, Royal, Dark).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A192F"/>
                </a:solidFill>
              </a:rPr>
              <a:t>• Backend REST Engine: </a:t>
            </a:r>
            <a:r>
              <a:rPr sz="1100">
                <a:solidFill>
                  <a:srgbClr val="334155"/>
                </a:solidFill>
              </a:rPr>
              <a:t>FastAPI (Python 3.10+), Asynchronous REST microservices, Uvicorn ASGI server with verified sub-45ms query response latency.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A192F"/>
                </a:solidFill>
              </a:rPr>
              <a:t>• Statistical &amp; Geodesic Layer: </a:t>
            </a:r>
            <a:r>
              <a:rPr sz="1100">
                <a:solidFill>
                  <a:srgbClr val="334155"/>
                </a:solidFill>
              </a:rPr>
              <a:t>Python (pandas, numpy, scipy) executing IQR sanitization, median pricing, Laspeyres index aggregation, and Haversine great-circle distance math.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A192F"/>
                </a:solidFill>
              </a:rPr>
              <a:t>• Data Persistence: </a:t>
            </a:r>
            <a:r>
              <a:rPr sz="1100">
                <a:solidFill>
                  <a:srgbClr val="334155"/>
                </a:solidFill>
              </a:rPr>
              <a:t>SQLAlchemy ORM with multi-table relational schema (raw_fares, representative_fares, route_weights, apix_index) — PostgreSQL production-ready (SQLite portable mode).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A192F"/>
                </a:solidFill>
              </a:rPr>
              <a:t>• Automated Ingestion Pipeline: </a:t>
            </a:r>
            <a:r>
              <a:rPr sz="1100">
                <a:solidFill>
                  <a:srgbClr val="334155"/>
                </a:solidFill>
              </a:rPr>
              <a:t>Asynchronous scheduled ingestion workers with resilient exponential retry fallbacks, rotating headers, and persistent caching.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2. 5-Stage Resilient Processing Pipeline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E7490"/>
                </a:solidFill>
              </a:rPr>
              <a:t>▶ Step 1: Ingestion &amp; Deduplication
</a:t>
            </a:r>
            <a:r>
              <a:rPr sz="1100">
                <a:solidFill>
                  <a:srgbClr val="1E293B"/>
                </a:solidFill>
              </a:rPr>
              <a:t>Pulls fare records across 80 scheduled corridors × 5 lead horizons (T+1 to T+45). Deduplicates by flight number, airline, date, and origin-dest pair.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E7490"/>
                </a:solidFill>
              </a:rPr>
              <a:t>▶ Step 2: Statistical IQR Outlier Filtration
</a:t>
            </a:r>
            <a:r>
              <a:rPr sz="1100">
                <a:solidFill>
                  <a:srgbClr val="1E293B"/>
                </a:solidFill>
              </a:rPr>
              <a:t>Computes route-specific Q1, Q3, and IQR boundaries. Strips promotional flash pricing and unrepresentative last-seat gouging.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E7490"/>
                </a:solidFill>
              </a:rPr>
              <a:t>▶ Step 3: Representative Median Computation
</a:t>
            </a:r>
            <a:r>
              <a:rPr sz="1100">
                <a:solidFill>
                  <a:srgbClr val="1E293B"/>
                </a:solidFill>
              </a:rPr>
              <a:t>Extracts robust median fare P(r,t) across clean distributions to eliminate single-carrier bias.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E7490"/>
                </a:solidFill>
              </a:rPr>
              <a:t>▶ Step 4: Geodesic UDAN RCS Cap Mapping
</a:t>
            </a:r>
            <a:r>
              <a:rPr sz="1100">
                <a:solidFill>
                  <a:srgbClr val="1E293B"/>
                </a:solidFill>
              </a:rPr>
              <a:t>Calculates great-circle distance (km) and maps against statutory caps (₹2,250–₹5,800) to flag violations and compute potential VGF clawbacks.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E7490"/>
                </a:solidFill>
              </a:rPr>
              <a:t>▶ Step 5: Modified Laspeyres Aggregation
</a:t>
            </a:r>
            <a:r>
              <a:rPr sz="1100">
                <a:solidFill>
                  <a:srgbClr val="1E293B"/>
                </a:solidFill>
              </a:rPr>
              <a:t>Applies DGCA Form A/B passenger volume weights (w_r):
APIx_t = Σ [ w_r × (P_r,t / P_r,0) ] × 100  (Normalized to Base 100.00)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FEASIBILITY &amp;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Slide 4: Feasibility, Viability &amp; Risk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4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28416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2588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Operational Feasibility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Combines published DGCA Form A/B passenger statistics with automated fare ingestion across 20 domestic hubs with zero manual intervention.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280160"/>
            <a:ext cx="3328416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32588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Technical Feasibility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Lightweight, stateless ASGI architecture running in real-time with responsive UI and sub-45ms API query latency across all 80 corridors.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280160"/>
            <a:ext cx="3328416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32588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Economic Viability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Built 100% on open-source, sovereign, scalable stack. Zero paid commercial API or GDS subscription dependencies.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A192F"/>
                </a:solidFill>
              </a:defRPr>
            </a:pPr>
            <a:r>
              <a:t>Implemented Risk Mitigation &amp; Legal Safeguards Matrix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29184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059375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Identified Risk / Challenge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Operational Regulatory Impact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Technical &amp; Legal Mitigation Implemented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192F"/>
                          </a:solidFill>
                        </a:defRPr>
                      </a:pPr>
                      <a:r>
                        <a:t>Extreme Fare Volatility &amp; Flash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Distorts median price index with temporary artificial promotions or single-seat spikes.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IQR Outlier Trimming: Automatically bounds fares to [Q1 - 1.5·IQR, Q3 + 1.5·IQR] before Laspeyres aggregation.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192F"/>
                          </a:solidFill>
                        </a:defRPr>
                      </a:pPr>
                      <a:r>
                        <a:t>Seasonal Traffic Pattern Shifts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Fixed route weights become obsolete over time as seasonal leisure/holiday routes peak.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Dynamic Quarterly Rebalancing: Recalculates route passenger weights (w_r) each quarter using DGCA Form A/B statistics.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192F"/>
                          </a:solidFill>
                        </a:defRPr>
                      </a:pPr>
                      <a:r>
                        <a:t>Anti-Scraping / Portal Rate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Scraping disruptions leading to incomplete daily fare baskets or missing carriers.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Distributed Fetching &amp; Robust Fallbacks: Staggered asynchronous requests, randomized user-agents, and persistent SQLite cache.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192F"/>
                          </a:solidFill>
                        </a:defRPr>
                      </a:pPr>
                      <a:r>
                        <a:t>Regulatory &amp; Statutory Challenges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Airlines contesting fare caps or index methodology as anti-market or non-statutory.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Aircraft Rules 1937 Anchor: Grounded strictly under Rule 135 (Tariff Filing &amp; Non-Predatory Pricing) and UDAN Gazette frameworks.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SOCIO-ECONOMIC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Slide 5: Impact and Socio-Economic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5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A192F"/>
                </a:solidFill>
              </a:defRPr>
            </a:pPr>
            <a:r>
              <a:t>1. Direct Stakeholder Impact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Ministry of Civil Aviation &amp; DGCA: </a:t>
            </a:r>
            <a:r>
              <a:rPr sz="1150">
                <a:solidFill>
                  <a:srgbClr val="334155"/>
                </a:solidFill>
              </a:rPr>
              <a:t>Provides an objective, reproducible national benchmark to evaluate statutory fare caps, eliminate ad-hoc spot checks, and enforce Rule 135 mandates.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Competition Commission of India (CCI): </a:t>
            </a:r>
            <a:r>
              <a:rPr sz="1150">
                <a:solidFill>
                  <a:srgbClr val="334155"/>
                </a:solidFill>
              </a:rPr>
              <a:t>Corridor-level HHI transparency uncovers route duopolies, cartel pricing, and artificial capacity cuts on high-density corridors.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Indian Air Travelers: </a:t>
            </a:r>
            <a:r>
              <a:rPr sz="1150">
                <a:solidFill>
                  <a:srgbClr val="334155"/>
                </a:solidFill>
              </a:rPr>
              <a:t>Full transparency into baseline market fares; exposes 2.14x emergency surge gouging and equips travelers with optimal booking window intelligence.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Airlines &amp; Industry Operators: </a:t>
            </a:r>
            <a:r>
              <a:rPr sz="1150">
                <a:solidFill>
                  <a:srgbClr val="334155"/>
                </a:solidFill>
              </a:rPr>
              <a:t>Clear, transparent regulatory yardstick preventing arbitrary policy freezes while preserving dynamic revenue management within fair statutory bounds.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10B981"/>
                </a:solidFill>
              </a:defRPr>
            </a:pPr>
            <a:r>
              <a:t>2. Broad Socio-Economic &amp; Fiscal Benefits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66534"/>
                </a:solidFill>
              </a:rPr>
              <a:t>✔ Macroeconomic Inflation Forecasting: </a:t>
            </a:r>
            <a:r>
              <a:rPr sz="1150">
                <a:solidFill>
                  <a:srgbClr val="0F172A"/>
                </a:solidFill>
              </a:rPr>
              <a:t>Directly integrates with MOSPI Consumer Price Index (CPI) transport sub-indices for truthful macroeconomic inflation modeling.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66534"/>
                </a:solidFill>
              </a:rPr>
              <a:t>✔ UDAN Subsidy &amp; VGF Clawback Protection: </a:t>
            </a:r>
            <a:r>
              <a:rPr sz="1150">
                <a:solidFill>
                  <a:srgbClr val="0F172A"/>
                </a:solidFill>
              </a:rPr>
              <a:t>Audits ₹1,000+ Cr annual Viability Gap Funding (VGF) disbursements to ensure airlines do not collect public subsidies while charging predatory fares.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66534"/>
                </a:solidFill>
              </a:rPr>
              <a:t>✔ ₹4,500+ Cr Consumer Protection: </a:t>
            </a:r>
            <a:r>
              <a:rPr sz="1150">
                <a:solidFill>
                  <a:srgbClr val="0F172A"/>
                </a:solidFill>
              </a:rPr>
              <a:t>Simulates fuel shocks and emergency events (e.g., festival surges, rail strikes) to protect Indian consumers from unconstrained predatory exploitation.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66534"/>
                </a:solidFill>
              </a:rPr>
              <a:t>✔ Sovereign Digital Asset: </a:t>
            </a:r>
            <a:r>
              <a:rPr sz="1150">
                <a:solidFill>
                  <a:srgbClr val="0F172A"/>
                </a:solidFill>
              </a:rPr>
              <a:t>Establishes India's first standardized, independent, and reproducible domestic airfare analytics infrastructure, reducing reliance on foreign proprietary feeds.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COMPLIANCE &amp;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Slide 6: Research, Citations &amp;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6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A192F"/>
                </a:solidFill>
              </a:defRPr>
            </a:pPr>
            <a:r>
              <a:t>1. Regulatory Data Sources &amp; Legal Standards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DGCA India Statistics: </a:t>
            </a:r>
            <a:r>
              <a:rPr sz="1050">
                <a:solidFill>
                  <a:srgbClr val="334155"/>
                </a:solidFill>
              </a:rPr>
              <a:t>Monthly Domestic Air Traffic Statistics, City-Pair Passenger Volume Reports (Form A &amp; B) and On-Time Performance (OTP) data — dgca.gov.in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Aircraft Rules, 1937 (Rule 135): </a:t>
            </a:r>
            <a:r>
              <a:rPr sz="1050">
                <a:solidFill>
                  <a:srgbClr val="334155"/>
                </a:solidFill>
              </a:rPr>
              <a:t>Statutory authority governing tariff publishing, reasonable profit margins, and prohibition of predatory or exploitative pricing.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UDAN RCS Framework (MoCA): </a:t>
            </a:r>
            <a:r>
              <a:rPr sz="1050">
                <a:solidFill>
                  <a:srgbClr val="334155"/>
                </a:solidFill>
              </a:rPr>
              <a:t>Gazette-notified distance-tiered statutory fare caps (₹2,250 to ₹5,800) and Viability Gap Funding guidelines — civilaviation.gov.in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MOSPI CPI Guidelines: </a:t>
            </a:r>
            <a:r>
              <a:rPr sz="1050">
                <a:solidFill>
                  <a:srgbClr val="334155"/>
                </a:solidFill>
              </a:rPr>
              <a:t>Methodological manual for Laspeyres price index aggregation, base-year weighting principles, and inflation sub-indices — mospi.gov.in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ICAO Doc 9626: </a:t>
            </a:r>
            <a:r>
              <a:rPr sz="1050">
                <a:solidFill>
                  <a:srgbClr val="334155"/>
                </a:solidFill>
              </a:rPr>
              <a:t>Manual on the Regulation of International Air Transport: Tariff Monitoring Guidelines &amp; Sovereign Airfare Index Principles.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38BDF8"/>
                </a:solidFill>
              </a:defRPr>
            </a:pPr>
            <a:r>
              <a:t>2. Live Demonstration &amp; Verification Endpoints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Operational Status: </a:t>
            </a:r>
            <a:r>
              <a:rPr sz="1050">
                <a:solidFill>
                  <a:srgbClr val="F8FAFC"/>
                </a:solidFill>
              </a:rPr>
              <a:t>Fully Functional Working Prototype (Frontend + Backend + Database Engine)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Interactive Cockpit: </a:t>
            </a:r>
            <a:r>
              <a:rPr sz="1050">
                <a:solidFill>
                  <a:srgbClr val="F8FAFC"/>
                </a:solidFill>
              </a:rPr>
              <a:t>http://localhost:5173  (React 19 + Plotly Visual Analytics)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UDAN RCS Auditor: </a:t>
            </a:r>
            <a:r>
              <a:rPr sz="1050">
                <a:solidFill>
                  <a:srgbClr val="F8FAFC"/>
                </a:solidFill>
              </a:rPr>
              <a:t>http://localhost:5173/udan-rcs  (Live Statutory Ceiling Surveillance &amp; Notices)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Antitrust &amp; HHI Engine: </a:t>
            </a:r>
            <a:r>
              <a:rPr sz="1050">
                <a:solidFill>
                  <a:srgbClr val="F8FAFC"/>
                </a:solidFill>
              </a:rPr>
              <a:t>http://localhost:5173/analysts  (Herfindahl-Hirschman Route Monopoly Dashboard)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Fuel Shock Simulator: </a:t>
            </a:r>
            <a:r>
              <a:rPr sz="1050">
                <a:solidFill>
                  <a:srgbClr val="F8FAFC"/>
                </a:solidFill>
              </a:rPr>
              <a:t>http://localhost:5173/simulation  (Macroeconomic Elasticity &amp; Consumer Burden)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FastAPI OpenAPI Engine: </a:t>
            </a:r>
            <a:r>
              <a:rPr sz="1050">
                <a:solidFill>
                  <a:srgbClr val="F8FAFC"/>
                </a:solidFill>
              </a:rPr>
              <a:t>http://localhost:8000/docs  (Automated Swagger Microservice Documentation)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Production Readiness: </a:t>
            </a:r>
            <a:r>
              <a:rPr sz="1050">
                <a:solidFill>
                  <a:srgbClr val="F8FAFC"/>
                </a:solidFill>
              </a:rPr>
              <a:t>Dockerized, stateless microservice architecture ready for sovereign deployment on National Informatics Centre (NIC) / MoCA cloud.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